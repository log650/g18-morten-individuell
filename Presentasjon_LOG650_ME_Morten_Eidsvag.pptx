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Introduser deg selv og temaet. Presenter problemet kort: økt legemiddelmangel, behov for bedre prognoser, og at du sammenligner fire ulike modeller på reelle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 en rask oversikt over presentasjonsstrukturen. Ca. 30 minutter totalt.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problemet: Norge har hatt økt legemiddelmangel. Feilprognoser er en bidragsyter. Tradisjonelle og nyere metoder finnes, men ingen har systematisk sammenlignet dem på nettopp denne typen datasett.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problemstillingen høyt. Forklar at den er todelt: (1) hvilken modell er best samlet, og (2) om svaret er likt for alle produkttyper. De tre RQ-ene operasjonaliserer problemstillingen.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Beskriv forsyningskjedestrukturen. Understreke at prognosene gjelder første ledd — fra sentrallager til grossist. Nevn at 76% av SKU-ene har nullverdier, noe som påvirker MAPE-beregningen.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Forklar designvalget: kvantitativ casestudie for metodisk kontroll. Understreke at hold-out er standard for tidsserier (ikke krysskalibrering — ville gi datalekkasje). DM-testen er viktig for å vurdere om forskjellene er statistisk signifikante.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Gå gjennom hver modell konseptuelt. Understreke at naiv er referansemodell — alle andre bør slå den. XGBoost er ikke en tidsseriemodell og krever feature engineering. Global = trent på alle SKU-er samlet.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Forklar hvorfor vi bruker tre feilmål — de måler ulike ting. RMSE er sensitiv for uteliggere, MAE er robust, MAPE er relativ og sammenlignbar. Median brukes fordi fordelingen er høyreskjev med noen ekstreme verdier for lavvolum-SKU-er.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Dette er kjerneresultatet. XGBoost global er best på alle tre mål. Understreke at XGBoost individuell (trent per SKU) er nesten identisk med Holt-Winters — det viser at det er pooling, ikke gradient boosting-algoritmen, som gir fordelen. Absoluttallene er høye — MAPE 52% er ikke god presisjon i operativ forstand, men det er beste *relative* resultat på et krevende datasett.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Dette svarer på RQ2. Modellprestasjonene varierer tydelig mellom segmenter. XGBoost er svakest for sesongpregede SKU-er (79% MAPE — verre enn naiv!) fordi den globale modellen optimerer for det dominerende ikke-sesongpregede mønsteret. Holt-Winters og ARIMA er mer robuste fordi de tilpasser sesongkomponenten per serie uavhengig av andre SKU-er.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høyvolum-SKU-er er etterspørselen mer stabil og laggsignalet sterkere — XGBoost utnytter dette godt. For lavvolum-SKU-er dominerer støy og nullobservasjoner. Den globale modellen trekker prediksjoner mot porteføljesnittet — gunstig for høyvolum-serier som ligner snittet, men et systematisk problem for lavvolum-serier som avviker strukturelt.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Dette er to av de viktigste funnene i studien. DM-testen sier at selv om XGBoost har lavere MAPE enn ARIMA, er ikke forskjellen statistisk signifikant. Og kontrolleksperimentet demonstrerer tydelig at det er pooling (3780 obs) — ikke algoritmen — som gir XGBoosts fordel.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Forklar mekanismene. To viktige forklaringer: (1) sesong-fortynningseffekten — sesongpregede serier er en minoritet i treningsdata. (2) signal-støy-problemet for lavvolum — den globale modellen passer best for serier som ligner gjennomsnittet.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Oppsummer de fire faglige bidragene. Understreke at studien er metodisk sterk: felles evalueringsrammeverk, statistisk testing og et kontrolleksperiment som isolerer en spesifikk effekt. Konklusjonen er nyansert — XGBoost er best observert, men ikke statistisk bevisst overlegen ARIMA.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Avslutt med praktiske implikasjoner. For en eksamensituasjon: understreke at anbefalingen avhenger av virksomhetens kapasitet. Nevn at hybrid-strategien er det logiske neste steget basert på segmentanalysen.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Etterspørselsprognoser for
farmasøytiske varelinjer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BDD7EE"/>
                </a:solidFill>
              </a:rPr>
              <a:t>Sammenligning av naiv sesongprognose, Holt-Winters,
ARIMA/SARIMA og XGBoost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Morten Eidsvåg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DD7EE"/>
                </a:solidFill>
              </a:rPr>
              <a:t>LOG650 – Forskningsprosjekt: Logistikk og kunstig intelligens
Høgskolen i Molde  | 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Morten Eidsvåg  |  LOG650  |  Høgskolen i Molde  | 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900" b="0" i="0">
                <a:solidFill>
                  <a:srgbClr val="1A1A1A"/>
                </a:solidFill>
              </a:rPr>
              <a:t>1   Bakgrunn og motivasjon</a:t>
            </a:r>
          </a:p>
          <a:p>
            <a:pPr>
              <a:spcBef>
                <a:spcPts val="1000"/>
              </a:spcBef>
            </a:pPr>
            <a:r>
              <a:rPr sz="1900" b="0" i="0">
                <a:solidFill>
                  <a:srgbClr val="1A1A1A"/>
                </a:solidFill>
              </a:rPr>
              <a:t>2   Problemstilling og forskningsspørsmål</a:t>
            </a:r>
          </a:p>
          <a:p>
            <a:pPr>
              <a:spcBef>
                <a:spcPts val="1000"/>
              </a:spcBef>
            </a:pPr>
            <a:r>
              <a:rPr sz="1900" b="0" i="0">
                <a:solidFill>
                  <a:srgbClr val="1A1A1A"/>
                </a:solidFill>
              </a:rPr>
              <a:t>3   Case og datasett</a:t>
            </a:r>
          </a:p>
          <a:p>
            <a:pPr>
              <a:spcBef>
                <a:spcPts val="1000"/>
              </a:spcBef>
            </a:pPr>
            <a:r>
              <a:rPr sz="1900" b="0" i="0">
                <a:solidFill>
                  <a:srgbClr val="1A1A1A"/>
                </a:solidFill>
              </a:rPr>
              <a:t>4   Metode og modeller</a:t>
            </a:r>
          </a:p>
          <a:p>
            <a:pPr>
              <a:spcBef>
                <a:spcPts val="1000"/>
              </a:spcBef>
            </a:pPr>
            <a:r>
              <a:rPr sz="1900" b="0" i="0">
                <a:solidFill>
                  <a:srgbClr val="1A1A1A"/>
                </a:solidFill>
              </a:rPr>
              <a:t>5   Resultater</a:t>
            </a:r>
          </a:p>
          <a:p>
            <a:pPr>
              <a:spcBef>
                <a:spcPts val="1000"/>
              </a:spcBef>
            </a:pPr>
            <a:r>
              <a:rPr sz="1900" b="0" i="0">
                <a:solidFill>
                  <a:srgbClr val="1A1A1A"/>
                </a:solidFill>
              </a:rPr>
              <a:t>6   Diskusjon</a:t>
            </a:r>
          </a:p>
          <a:p>
            <a:pPr>
              <a:spcBef>
                <a:spcPts val="1000"/>
              </a:spcBef>
            </a:pPr>
            <a:r>
              <a:rPr sz="1900" b="0" i="0">
                <a:solidFill>
                  <a:srgbClr val="1A1A1A"/>
                </a:solidFill>
              </a:rPr>
              <a:t>7   Konklusjon og anbefalinger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Bakgrunn og motivasjon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Morten Eidsvåg  |  LOG650  |  Høgskolen i Molde  | 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2560320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1 403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mangelrapporter
(Statens legemiddelverk, 2023)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34640"/>
            <a:ext cx="2560320" cy="13716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92608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76 %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66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økning
fra 2022 til 2023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23444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 b="1" i="0">
                <a:solidFill>
                  <a:srgbClr val="1A1A1A"/>
                </a:solidFill>
              </a:rPr>
              <a:t>Feilprognoser har to konsekvenser:</a:t>
            </a:r>
          </a:p>
          <a:p>
            <a:pPr>
              <a:spcBef>
                <a:spcPts val="400"/>
              </a:spcBef>
            </a:pPr>
            <a:r>
              <a:rPr sz="1600" b="0" i="0">
                <a:solidFill>
                  <a:srgbClr val="1A1A1A"/>
                </a:solidFill>
              </a:rPr>
              <a:t>  →  For lav: legemiddelmangel — tomme apotekhyller</a:t>
            </a:r>
          </a:p>
          <a:p>
            <a:pPr>
              <a:spcBef>
                <a:spcPts val="400"/>
              </a:spcBef>
            </a:pPr>
            <a:r>
              <a:rPr sz="1600" b="0" i="0">
                <a:solidFill>
                  <a:srgbClr val="1A1A1A"/>
                </a:solidFill>
              </a:rPr>
              <a:t>  →  For høy: overlagring, kapitalbinding, ukurans</a:t>
            </a:r>
          </a:p>
          <a:p>
            <a:pPr>
              <a:spcBef>
                <a:spcPts val="200"/>
              </a:spcBef>
            </a:pPr>
            <a:r>
              <a:rPr sz="800" b="0" i="0">
                <a:solidFill>
                  <a:srgbClr val="1A1A1A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700" b="1" i="0">
                <a:solidFill>
                  <a:srgbClr val="1A1A1A"/>
                </a:solidFill>
              </a:rPr>
              <a:t>Tradisjonelle metoder: Holt-Winters og ARIMA</a:t>
            </a:r>
          </a:p>
          <a:p>
            <a:pPr>
              <a:spcBef>
                <a:spcPts val="400"/>
              </a:spcBef>
            </a:pPr>
            <a:r>
              <a:rPr sz="1600" b="0" i="0">
                <a:solidFill>
                  <a:srgbClr val="1A1A1A"/>
                </a:solidFill>
              </a:rPr>
              <a:t>  →  Statistiske tidsseriemodeller, veletablerte</a:t>
            </a:r>
          </a:p>
          <a:p>
            <a:pPr>
              <a:spcBef>
                <a:spcPts val="200"/>
              </a:spcBef>
            </a:pPr>
            <a:r>
              <a:rPr sz="800" b="0" i="0">
                <a:solidFill>
                  <a:srgbClr val="1A1A1A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700" b="1" i="0">
                <a:solidFill>
                  <a:srgbClr val="1A1A1A"/>
                </a:solidFill>
              </a:rPr>
              <a:t>Nyere metoder: maskinlæring (XGBoost)</a:t>
            </a:r>
          </a:p>
          <a:p>
            <a:pPr>
              <a:spcBef>
                <a:spcPts val="400"/>
              </a:spcBef>
            </a:pPr>
            <a:r>
              <a:rPr sz="1600" b="0" i="0">
                <a:solidFill>
                  <a:srgbClr val="1A1A1A"/>
                </a:solidFill>
              </a:rPr>
              <a:t>  →  Kan håndtere komplekse, ikke-lineære mønstre</a:t>
            </a:r>
          </a:p>
          <a:p>
            <a:pPr>
              <a:spcBef>
                <a:spcPts val="200"/>
              </a:spcBef>
            </a:pPr>
            <a:r>
              <a:rPr sz="800" b="0" i="0">
                <a:solidFill>
                  <a:srgbClr val="1A1A1A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700" b="1" i="0">
                <a:solidFill>
                  <a:srgbClr val="2E75B6"/>
                </a:solidFill>
              </a:rPr>
              <a:t>Gap i litteraturen:</a:t>
            </a:r>
          </a:p>
          <a:p>
            <a:pPr>
              <a:spcBef>
                <a:spcPts val="400"/>
              </a:spcBef>
            </a:pPr>
            <a:r>
              <a:rPr sz="1600" b="0" i="0">
                <a:solidFill>
                  <a:srgbClr val="1A1A1A"/>
                </a:solidFill>
              </a:rPr>
              <a:t>  →  Få studier på paneldata med mange SKU-er,</a:t>
            </a:r>
          </a:p>
          <a:p>
            <a:pPr>
              <a:spcBef>
                <a:spcPts val="400"/>
              </a:spcBef>
            </a:pPr>
            <a:r>
              <a:rPr sz="1600" b="0" i="0">
                <a:solidFill>
                  <a:srgbClr val="1A1A1A"/>
                </a:solidFill>
              </a:rPr>
              <a:t>       kort historikk og i et distribusjonsledd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Problemstilling og forskningsspørsmål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Morten Eidsvåg  |  LOG650  |  Høgskolen i Molde  | 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11430000" cy="13716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1F3864"/>
                </a:solidFill>
              </a:rPr>
              <a:t>«Hvilke prognosemodeller egner seg best for månedlige leveranser av farmasøytiske varelinjer i et sentrallager–grossist-system, og i hvilken grad varierer modellprestasjonene på tvers av produktsegmenter?»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11338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600" b="1" i="0">
                <a:solidFill>
                  <a:srgbClr val="1F3864"/>
                </a:solidFill>
              </a:rPr>
              <a:t>RQ1 — Hvilken modell gir lavest prognosefeil (RMSE, MAE, MAPE)
          målt på tvers av alle 105 SKU-er?</a:t>
            </a:r>
          </a:p>
          <a:p>
            <a:pPr>
              <a:spcBef>
                <a:spcPts val="1400"/>
              </a:spcBef>
            </a:pPr>
            <a:r>
              <a:rPr sz="1600" b="1" i="0">
                <a:solidFill>
                  <a:srgbClr val="1F3864"/>
                </a:solidFill>
              </a:rPr>
              <a:t>RQ2 — Varierer den relative modellprestasjonen mellom
          produktsegmenter (volum og sesongmønster)?</a:t>
            </a:r>
          </a:p>
          <a:p>
            <a:pPr>
              <a:spcBef>
                <a:spcPts val="1400"/>
              </a:spcBef>
            </a:pPr>
            <a:r>
              <a:rPr sz="1600" b="1" i="0">
                <a:solidFill>
                  <a:srgbClr val="1F3864"/>
                </a:solidFill>
              </a:rPr>
              <a:t>RQ3 — I hvilken grad gir økt modellkompleksitet reell merverdi
          i en operasjonell planleggingskontekst?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Case og datasett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Morten Eidsvåg  |  LOG650  |  Høgskolen i Molde  | 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2194560" cy="82296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Europeisk
sentrallager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37160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3864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280160"/>
            <a:ext cx="2194560" cy="822960"/>
          </a:xfrm>
          <a:prstGeom prst="rect">
            <a:avLst/>
          </a:prstGeom>
          <a:solidFill>
            <a:srgbClr val="2E75B6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280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Norske
grossister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37160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3864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1280160"/>
            <a:ext cx="2194560" cy="822960"/>
          </a:xfrm>
          <a:prstGeom prst="rect">
            <a:avLst/>
          </a:prstGeom>
          <a:solidFill>
            <a:srgbClr val="F2F2F2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1280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</a:rPr>
              <a:t>Apotek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137160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3864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280160"/>
            <a:ext cx="2194560" cy="822960"/>
          </a:xfrm>
          <a:prstGeom prst="rect">
            <a:avLst/>
          </a:prstGeom>
          <a:solidFill>
            <a:srgbClr val="F2F2F2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1280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</a:rPr>
              <a:t>Pasient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240280"/>
            <a:ext cx="4754880" cy="32004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2585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← Denne studien analyserer dette leddet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788920"/>
            <a:ext cx="228600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8803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520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SKU-er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2788920"/>
            <a:ext cx="228600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28803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520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måneder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0" y="2788920"/>
            <a:ext cx="228600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0" y="28803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76 %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3520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har nullverdier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60" y="2788920"/>
            <a:ext cx="228600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28803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5 040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3520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observasjoner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0690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</a:rPr>
              <a:t>Treningssett: Jan 2022 – Des 2024  (36 måneder)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4805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55A11"/>
                </a:solidFill>
              </a:rPr>
              <a:t>Testsett: Jan – Des 2025  (12 måneder)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06908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</a:rPr>
              <a:t>Anonymisert datasett fra virksomhetens ERP-system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Metode og forskningsdesign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Morten Eidsvåg  |  LOG650  |  Høgskolen i Molde  | 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 i="0">
                <a:solidFill>
                  <a:srgbClr val="1A1A1A"/>
                </a:solidFill>
              </a:rPr>
              <a:t>Kvantitativ casestudie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  Positivistisk perspektiv — virkeligheten kan måles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  Ett datasett, én virksomhet, full metodisk kontroll</a:t>
            </a:r>
          </a:p>
          <a:p>
            <a:pPr>
              <a:spcBef>
                <a:spcPts val="600"/>
              </a:spcBef>
            </a:pPr>
            <a:r>
              <a:rPr sz="800" b="0" i="0">
                <a:solidFill>
                  <a:srgbClr val="1A1A1A"/>
                </a:solidFill>
              </a:rPr>
              <a:t/>
            </a:r>
          </a:p>
          <a:p>
            <a:pPr>
              <a:spcBef>
                <a:spcPts val="1000"/>
              </a:spcBef>
            </a:pPr>
            <a:r>
              <a:rPr sz="1700" b="1" i="0">
                <a:solidFill>
                  <a:srgbClr val="1A1A1A"/>
                </a:solidFill>
              </a:rPr>
              <a:t>Hold-out-validering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  36 mnd trening  →  12 mnd test (out-of-sample)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  Testperioden dekker én full sesongssyklus</a:t>
            </a:r>
          </a:p>
          <a:p>
            <a:pPr>
              <a:spcBef>
                <a:spcPts val="600"/>
              </a:spcBef>
            </a:pPr>
            <a:r>
              <a:rPr sz="800" b="0" i="0">
                <a:solidFill>
                  <a:srgbClr val="1A1A1A"/>
                </a:solidFill>
              </a:rPr>
              <a:t/>
            </a:r>
          </a:p>
          <a:p>
            <a:pPr>
              <a:spcBef>
                <a:spcPts val="1000"/>
              </a:spcBef>
            </a:pPr>
            <a:r>
              <a:rPr sz="1700" b="1" i="0">
                <a:solidFill>
                  <a:srgbClr val="1A1A1A"/>
                </a:solidFill>
              </a:rPr>
              <a:t>Felles evalueringsrammeverk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  Alle modeller: identisk data, split og feilmål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23444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 i="0">
                <a:solidFill>
                  <a:srgbClr val="1A1A1A"/>
                </a:solidFill>
              </a:rPr>
              <a:t>Segmentanalyse (RQ2)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  Sesongstyrke: Fs ≥ 0,64 (sterk / svak)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  Volumnivå: tertiler (høy / middels / lav)</a:t>
            </a:r>
          </a:p>
          <a:p>
            <a:pPr>
              <a:spcBef>
                <a:spcPts val="600"/>
              </a:spcBef>
            </a:pPr>
            <a:r>
              <a:rPr sz="800" b="0" i="0">
                <a:solidFill>
                  <a:srgbClr val="1A1A1A"/>
                </a:solidFill>
              </a:rPr>
              <a:t/>
            </a:r>
          </a:p>
          <a:p>
            <a:pPr>
              <a:spcBef>
                <a:spcPts val="1000"/>
              </a:spcBef>
            </a:pPr>
            <a:r>
              <a:rPr sz="1700" b="1" i="0">
                <a:solidFill>
                  <a:srgbClr val="1A1A1A"/>
                </a:solidFill>
              </a:rPr>
              <a:t>Statistisk testing (RQ3)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  Diebold-Mariano-test (DM)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  Signifikansnivå α = 0,05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  To par: HW vs. ARIMA, XGBoost vs. ARIMA</a:t>
            </a:r>
          </a:p>
          <a:p>
            <a:pPr>
              <a:spcBef>
                <a:spcPts val="600"/>
              </a:spcBef>
            </a:pPr>
            <a:r>
              <a:rPr sz="800" b="0" i="0">
                <a:solidFill>
                  <a:srgbClr val="1A1A1A"/>
                </a:solidFill>
              </a:rPr>
              <a:t/>
            </a:r>
          </a:p>
          <a:p>
            <a:pPr>
              <a:spcBef>
                <a:spcPts val="1000"/>
              </a:spcBef>
            </a:pPr>
            <a:r>
              <a:rPr sz="1700" b="1" i="0">
                <a:solidFill>
                  <a:srgbClr val="1A1A1A"/>
                </a:solidFill>
              </a:rPr>
              <a:t>Kontrolleksperiment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  XGBoost trent individuelt per SKU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  Isolerer pooling-effekten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234440"/>
            <a:ext cx="36576" cy="52120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 fire prognosemodellene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Morten Eidsvåg  |  LOG650  |  Høgskolen i Molde  | 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760720" cy="2468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4416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</a:rPr>
              <a:t>Naiv sesongprognose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91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</a:rPr>
              <a:t>Referansemodell (benchmark)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9842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ŷ_{t+h} = y_{t+h−12}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37744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Ingen parametere. Predikerer samme verdi som tilsvarende
måned i fjor. Brukes for å vurdere om andre modeller
gir reell forbedring.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760720" cy="24688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4416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</a:rPr>
              <a:t>Holt-Winters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691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</a:rPr>
              <a:t>Eksponentiell glatting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9842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Nivå (α)  +  Trend (β)  +  Sesong (γ)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37744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Dekomponerer tidsserien. Additiv eller multiplikativ
sesong (valg basert på CV &gt; 0,5). Parametere estimeres
ved minimering av SSE.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86200"/>
            <a:ext cx="5760720" cy="24688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99592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</a:rPr>
              <a:t>ARIMA / SARIMA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343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</a:rPr>
              <a:t>Statistisk tidsseriemodell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6360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ARIMA(p,d,q)(P,D,Q)₁₂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920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Autoregresjon + differensiering + glidende gjennomsnitt.
Parametere valgt automatisk via AIC-minimering
(auto_arima).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886200"/>
            <a:ext cx="5760720" cy="24688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99592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343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</a:rPr>
              <a:t>Global maskinlæringsmodell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6360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Features: lag 1–12, måned, tidsindeks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02920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DD7EE"/>
                </a:solidFill>
              </a:rPr>
              <a:t>Ensemble av beslutningstrær. Trent på alle 105 SKU-er
samlet (3 780 observasjoner). Hyperparametre via
tidsserie-krysskalibrering.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Evalueringsmål og segmentering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Morten Eidsvåg  |  LOG650  |  Høgskolen i Molde  | 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3474720" cy="2103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2984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783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DD7EE"/>
                </a:solidFill>
              </a:rPr>
              <a:t>√(1/n · Σ(yₜ − ŷₜ)²)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2860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Sensitiv for store
avvik / uteliggere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234440"/>
            <a:ext cx="3474720" cy="2103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59" y="12984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MAE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59" y="1783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DD7EE"/>
                </a:solidFill>
              </a:rPr>
              <a:t>1/n · Σ|yₜ − ŷₜ|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59" y="22860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Robust, intuitiv —
gjennomsnittlig avvik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1234440"/>
            <a:ext cx="3474720" cy="2103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12984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MAPE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1783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DD7EE"/>
                </a:solidFill>
              </a:rPr>
              <a:t>100/n · Σ|yₜ−ŷₜ|/yₜ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2860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Sammenlignbar på tvers
av volumnivåer (%)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342900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55A11"/>
                </a:solidFill>
              </a:rPr>
              <a:t>Aggregering: Median over alle 105 SKU-er  (ikke gjennomsnitt — robust mot ekstremverdier i lavvolum-segmentet)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977639"/>
            <a:ext cx="5577840" cy="2514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416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</a:rPr>
              <a:t>Sesongstyrke (Fs)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07408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0" i="0">
                <a:solidFill>
                  <a:srgbClr val="1A1A1A"/>
                </a:solidFill>
              </a:rPr>
              <a:t>Beregnes fra STL-dekomponering:</a:t>
            </a:r>
          </a:p>
          <a:p>
            <a:pPr>
              <a:spcBef>
                <a:spcPts val="600"/>
              </a:spcBef>
            </a:pPr>
            <a:r>
              <a:rPr sz="1300" b="0" i="1">
                <a:solidFill>
                  <a:srgbClr val="2E75B6"/>
                </a:solidFill>
              </a:rPr>
              <a:t>Fs = max(0, 1 − Var(Rₜ)/Var(Sₜ+Rₜ))</a:t>
            </a:r>
          </a:p>
          <a:p>
            <a:pPr>
              <a:spcBef>
                <a:spcPts val="600"/>
              </a:spcBef>
            </a:pPr>
            <a:r>
              <a:rPr sz="1400" b="1" i="0">
                <a:solidFill>
                  <a:srgbClr val="1A1A1A"/>
                </a:solidFill>
              </a:rPr>
              <a:t>Fs ≥ 0,64 → «Sterk sesong»  (18 / 105 SKU-er)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</a:rPr>
              <a:t>Fs &lt; 0,64 → «Svak/ingen sesong»  (87 / 105 SKU-er)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3977639"/>
            <a:ext cx="5760720" cy="2514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4041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</a:rPr>
              <a:t>Volumnivå (tertiler)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407408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0" i="0">
                <a:solidFill>
                  <a:srgbClr val="1A1A1A"/>
                </a:solidFill>
              </a:rPr>
              <a:t>Basert på gjennomsnittlig månedlig etterspørsel:</a:t>
            </a:r>
          </a:p>
          <a:p>
            <a:pPr>
              <a:spcBef>
                <a:spcPts val="600"/>
              </a:spcBef>
            </a:pPr>
            <a:r>
              <a:rPr sz="1400" b="1" i="0">
                <a:solidFill>
                  <a:srgbClr val="1A1A1A"/>
                </a:solidFill>
              </a:rPr>
              <a:t>Høyt volum  —  øverste tertil  (35 SKU-er)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</a:rPr>
              <a:t>Middels volum  —  midtre tertil  (35 SKU-er)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</a:rPr>
              <a:t>Lavt volum  —  nederste tertil  (35 SKU-er)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Samlede resultater — alle 105 SKU-er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Morten Eidsvåg  |  LOG650  |  Høgskolen i Molde  | 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</a:rPr>
              <a:t>Median RMSE, MAE og MAPE  |  Testperiode: Jan–Des 2025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188720" y="1600200"/>
          <a:ext cx="96926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011680"/>
                <a:gridCol w="2011680"/>
                <a:gridCol w="201168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Modell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MAPE (%)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500"/>
                        <a:t>Naiv sesongprognose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1 131,65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914,58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67,50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500"/>
                        <a:t>Holt-Winters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935,84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769,90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62,49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375F1B"/>
                          </a:solidFill>
                        </a:rPr>
                        <a:t>XGBoost (individuell)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949,67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845,80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62,61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500"/>
                        <a:t>ARIMA / SARIMA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846,20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820,01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57,77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375F1B"/>
                          </a:solidFill>
                        </a:rPr>
                        <a:t>XGBoost (global)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75F1B"/>
                          </a:solidFill>
                        </a:rPr>
                        <a:t>811,24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75F1B"/>
                          </a:solidFill>
                        </a:rPr>
                        <a:t>702,95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75F1B"/>
                          </a:solidFill>
                        </a:rPr>
                        <a:t>52,19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4663440"/>
            <a:ext cx="1143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 b="1" i="0">
                <a:solidFill>
                  <a:srgbClr val="375F1B"/>
                </a:solidFill>
              </a:rPr>
              <a:t>★  XGBoost global er best på alle tre feilmål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</a:rPr>
              <a:t>    MAPE-forbedring: 15,3 pp over naiv  |  10,3 pp over Holt-Winters</a:t>
            </a:r>
          </a:p>
          <a:p>
            <a:pPr>
              <a:spcBef>
                <a:spcPts val="1000"/>
              </a:spcBef>
            </a:pPr>
            <a:r>
              <a:rPr sz="1500" b="1" i="0">
                <a:solidFill>
                  <a:srgbClr val="2E75B6"/>
                </a:solidFill>
              </a:rPr>
              <a:t>★  XGBoost individuell ≈ Holt-Winters  →  pooling-effekten er avgjørende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Segmentanalyse — sesongstyrke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Morten Eidsvåg  |  LOG650  |  Høgskolen i Molde  | 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</a:rPr>
              <a:t>Median MAPE fordelt på SKU-er med sterk (Fs ≥ 0,64) og svak sesong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600200"/>
          <a:ext cx="96012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3200400"/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Sterk sesong (18 SKU-er)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Svak/ingen sesong (87 SKU-er)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/>
                        <a:t>Naiv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71,92 %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67,49 %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/>
                        <a:t>Holt-Winters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65,82 %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61,01 %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/>
                        <a:t>ARIMA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69,86 %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56,52 %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375F1B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79,13 %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51,50 %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4206240"/>
            <a:ext cx="539496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2702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</a:rPr>
              <a:t>Sterk sesong — Holt-Winters er best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66344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 i="0">
                <a:solidFill>
                  <a:srgbClr val="C00000"/>
                </a:solidFill>
              </a:rPr>
              <a:t>XGBoost svakest: 79,13 % — høyere enn naiv (71,92 %)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1A1A1A"/>
                </a:solidFill>
              </a:rPr>
              <a:t>Årsak: kun 18/105 SKU-er har sterk sesong.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1A1A1A"/>
                </a:solidFill>
              </a:rPr>
              <a:t>Global modell optimerer for de 87 andre —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1A1A1A"/>
                </a:solidFill>
              </a:rPr>
              <a:t>sesongpregede serier «drukner».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206240"/>
            <a:ext cx="539496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2702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75F1B"/>
                </a:solidFill>
              </a:rPr>
              <a:t>Svak sesong — XGBoost klart best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66344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 i="0">
                <a:solidFill>
                  <a:srgbClr val="375F1B"/>
                </a:solidFill>
              </a:rPr>
              <a:t>XGBoost: 51,50 % — 9,5 pp bedre enn Holt-Winters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1A1A1A"/>
                </a:solidFill>
              </a:rPr>
              <a:t>Global pooling fungerer best når seriene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1A1A1A"/>
                </a:solidFill>
              </a:rPr>
              <a:t>ligner hverandre (ikke-sesongpreget adferd).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Segmentanalyse — volumnivå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Morten Eidsvåg  |  LOG650  |  Høgskolen i Molde  | 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</a:rPr>
              <a:t>Median MAPE fordelt på tertiler av gjennomsnittlig månedlig etterspørsel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600200"/>
          <a:ext cx="95097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194560"/>
                <a:gridCol w="2194560"/>
                <a:gridCol w="2194560"/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Høyt volum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Middels volum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Lavt volum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/>
                        <a:t>Naiv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58,85 %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67,50 %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86,07 %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/>
                        <a:t>Holt-Winters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61,01 %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63,63 %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62,49 %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/>
                        <a:t>ARIMA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54,91 %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57,77 %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61,48 %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375F1B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49,46 %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53,32 %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66,61 %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420624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500" b="1" i="0">
                <a:solidFill>
                  <a:srgbClr val="375F1B"/>
                </a:solidFill>
              </a:rPr>
              <a:t>Høyt volum:  XGBoost best med 49,46 % — regulære serier gir stabilt laggsignal</a:t>
            </a:r>
          </a:p>
          <a:p>
            <a:pPr>
              <a:spcBef>
                <a:spcPts val="1000"/>
              </a:spcBef>
            </a:pPr>
            <a:r>
              <a:rPr sz="1500" b="1" i="0">
                <a:solidFill>
                  <a:srgbClr val="C00000"/>
                </a:solidFill>
              </a:rPr>
              <a:t>Lavt volum:  XGBoost svakest med 66,61 % — støy dominerer, pooling gir skjevhet mot porteføljesnittet</a:t>
            </a:r>
          </a:p>
          <a:p>
            <a:pPr>
              <a:spcBef>
                <a:spcPts val="1000"/>
              </a:spcBef>
            </a:pPr>
            <a:r>
              <a:rPr sz="1400" b="0" i="0">
                <a:solidFill>
                  <a:srgbClr val="2E75B6"/>
                </a:solidFill>
              </a:rPr>
              <a:t>Holt-Winters og ARIMA: relativt stabil prestasjon på tvers av alle volumnivåer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Statistisk testing og kontrolleksperiment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Morten Eidsvåg  |  LOG650  |  Høgskolen i Molde  | 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486400" cy="320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</a:rPr>
              <a:t>Diebold-Mariano-test (DM)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190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</a:rPr>
              <a:t>H₀: Begge modeller har lik forventet prognosepresisjon  |  α = 0,05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194560"/>
          <a:ext cx="49377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97280"/>
                <a:gridCol w="128016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Par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p-verdi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Holt-Winters vs. ARIMA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1,766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0,078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75F1B"/>
                          </a:solidFill>
                        </a:rPr>
                        <a:t>XGBoost vs. ARIMA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−0,779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0,436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3749039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55A11"/>
                </a:solidFill>
              </a:rPr>
              <a:t>Ingen av parene er statistisk signifikant
forskjellige  (begge p &gt; 0,05)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234440"/>
            <a:ext cx="5806440" cy="320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29844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</a:rPr>
              <a:t>Kontrolleksperiment — XGBoost individuell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73736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</a:rPr>
              <a:t>XGBoost trent separat per SKU</a:t>
            </a:r>
          </a:p>
          <a:p>
            <a:pPr>
              <a:spcBef>
                <a:spcPts val="500"/>
              </a:spcBef>
            </a:pPr>
            <a:r>
              <a:rPr sz="1400" b="0" i="0">
                <a:solidFill>
                  <a:srgbClr val="1A1A1A"/>
                </a:solidFill>
              </a:rPr>
              <a:t>Samme 36 treningsobservasjoner som HW og ARIMA</a:t>
            </a:r>
          </a:p>
          <a:p>
            <a:pPr>
              <a:spcBef>
                <a:spcPts val="300"/>
              </a:spcBef>
            </a:pPr>
            <a:r>
              <a:rPr sz="1300" b="0" i="1">
                <a:solidFill>
                  <a:srgbClr val="1A1A1A"/>
                </a:solidFill>
              </a:rPr>
              <a:t>→  ~24 brukbare treningsrader per modell</a:t>
            </a:r>
          </a:p>
          <a:p>
            <a:pPr>
              <a:spcBef>
                <a:spcPts val="600"/>
              </a:spcBef>
            </a:pPr>
            <a:r>
              <a:rPr sz="600" b="0" i="0">
                <a:solidFill>
                  <a:srgbClr val="1A1A1A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1F3864"/>
                </a:solidFill>
              </a:rPr>
              <a:t>Resultat:</a:t>
            </a:r>
          </a:p>
          <a:p>
            <a:pPr>
              <a:spcBef>
                <a:spcPts val="600"/>
              </a:spcBef>
            </a:pPr>
            <a:r>
              <a:rPr sz="1500" b="1" i="0">
                <a:solidFill>
                  <a:srgbClr val="C00000"/>
                </a:solidFill>
              </a:rPr>
              <a:t>XGBoost individuell:  MAPE  62,61 %</a:t>
            </a:r>
          </a:p>
          <a:p>
            <a:pPr>
              <a:spcBef>
                <a:spcPts val="300"/>
              </a:spcBef>
            </a:pPr>
            <a:r>
              <a:rPr sz="1500" b="1" i="0">
                <a:solidFill>
                  <a:srgbClr val="2E75B6"/>
                </a:solidFill>
              </a:rPr>
              <a:t>Holt-Winters:              MAPE  62,49 %</a:t>
            </a:r>
          </a:p>
          <a:p>
            <a:pPr>
              <a:spcBef>
                <a:spcPts val="300"/>
              </a:spcBef>
            </a:pPr>
            <a:r>
              <a:rPr sz="1500" b="1" i="0">
                <a:solidFill>
                  <a:srgbClr val="375F1B"/>
                </a:solidFill>
              </a:rPr>
              <a:t>XGBoost global:          MAPE  52,19 %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617720"/>
            <a:ext cx="11521440" cy="16459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681728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</a:rPr>
              <a:t>Konklusjon: Det er global pooling — ikke gradient boosting-arkitekturen — som forklarer XGBoosts fordel.
DM-testen gir ikke grunnlag for å fastslå at noen modell er systematisk overlegen.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Diskusjon — mekanismer bak funnene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Morten Eidsvåg  |  LOG650  |  Høgskolen i Molde  | 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760720" cy="24688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25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Hvorfor XGBoost svak på sesongpregede SKU-er?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Sesong representeres kun via lagg 12.
18/105 SKU-er (17 %) har sterk sesong — en minoritet.
Global modell optimerer for de 87 ikke-sesongpregede.
Sesongpregede serier «drukner» i støy fra flertallet.
HW og ARIMA tilpasser sesong per serie — immune mot dette.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5760720" cy="24688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25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Hvorfor XGBoost svak på lavvolum-SKU-er?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Høy CV og nullobservasjoner → laggsignal domineres av støy.
Global modell trekker prediksjoner mot porteføljesnittet.
Gunstig for høyvolum (ligner snittet),
men systematisk skjevhet for lavvolum (avviker fra snittet).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86200"/>
            <a:ext cx="5760720" cy="2468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977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Begrensning: asymmetrisk treningsgrunnlag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4348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Global XGBoost: 3 780 obs  vs.  HW/ARIMA: 36 obs/modell.
Dette er en bevisst metodisk asymmetri — ikke en feil.
Kontrolleksperimentet kvantifiserer og isolerer effekten.
Funnet dokumenteres åpent i rapporten.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886200"/>
            <a:ext cx="5760720" cy="2468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977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Suksesskriterium MAPE &lt; 30 % — ikke oppnådd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4348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Beste resultat: 52,19 % (XGBoost global).
Kriteriet satt før EDA avdekket datakompleksiteten.
Burinskiene (2022): 50–70 % er normalt for slike data.
Reproduserbarhet og alle fire modeller: fullt oppfylt.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Konklusjon og faglige bidrag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Morten Eidsvåg  |  LOG650  |  Høgskolen i Molde  | 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64008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1732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1280160"/>
            <a:ext cx="1078992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32588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XGBoost global gir observert forbedring over klassiske modeller
(MAPE 52,19 % vs. 62,49 % for HW), men DM-testen bekrefter ikke
statistisk signifikant overlegenhet over ARIMA (p = 0,436).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606039"/>
            <a:ext cx="64008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743199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2606039"/>
            <a:ext cx="1078992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651759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Modellprestasjonene varierer systematisk mellom segmenter.
XGBoost sterkest for høyvolum og ikke-sesong;
ARIMA og Holt-Winters mer robuste for sesongpregede SKU-er.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931920"/>
            <a:ext cx="64008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06908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3931920"/>
            <a:ext cx="1078992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97764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Ingen av de testede modellparene skiller seg signifikant
fra hverandre i DM-test (begge p &gt; 0,05).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257800"/>
            <a:ext cx="64008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539496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" y="5257800"/>
            <a:ext cx="1078992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30352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Kontrolleksperimentet med XGBoost per SKU (MAPE 62,61 %)
isolerer pooling-effekten: global datautnyttelse —
ikke modellarkitekturen — forklarer XGBoosts fordel.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Praktiske anbefalinger og videre forskning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Morten Eidsvåg  |  LOG650  |  Høgskolen i Molde  | 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11521440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Praktiske anbefalinger for farmasøytisk distribusjon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37360"/>
            <a:ext cx="5440680" cy="1554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01368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✓  Med datakompetanse og Python-infrastruktur: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40280"/>
            <a:ext cx="5166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Bruk XGBoost som global modell — gir lavest prognosefeil
samlet, særlig for høyvolum-produkter.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737360"/>
            <a:ext cx="5440680" cy="1554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801368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✓  Uten avansert analysekapasitet: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240280"/>
            <a:ext cx="5166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Holt-Winters er et robust og enkelt alternativ med lav
implementeringskostnad og stabil prestasjon.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429000"/>
            <a:ext cx="1152144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4728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Videre forskning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</a:rPr>
              <a:t>→  Lengre historikk (72–96 mnd) for å gi XGBoost bedre treningsgrunnlag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1A1A1A"/>
                </a:solidFill>
              </a:rPr>
              <a:t>→  Hierarkisk prognosering — aggregere på terapeutisk kategorinivå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1A1A1A"/>
                </a:solidFill>
              </a:rPr>
              <a:t>→  Hybrid-strategi: global XGBoost for høyvolum/ikke-sesong + individuelle statistiske modeller for sesong-SKU-er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1A1A1A"/>
                </a:solidFill>
              </a:rPr>
              <a:t>→  Inkludere eksogene variabler (epidemiologiske indikatorer, kampanjer)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1A1A1A"/>
                </a:solidFill>
              </a:rPr>
              <a:t>→  Globale varianter av HW/ARIMA — sammenligne arkitekturer uten confounding fra ulik datamengde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